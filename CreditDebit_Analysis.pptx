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7"/>
  </p:notesMasterIdLst>
  <p:sldIdLst>
    <p:sldId id="256" r:id="rId2"/>
    <p:sldId id="260" r:id="rId3"/>
    <p:sldId id="302" r:id="rId4"/>
    <p:sldId id="303" r:id="rId5"/>
    <p:sldId id="309" r:id="rId6"/>
  </p:sldIdLst>
  <p:sldSz cx="9144000" cy="5143500" type="screen16x9"/>
  <p:notesSz cx="6858000" cy="9144000"/>
  <p:embeddedFontLst>
    <p:embeddedFont>
      <p:font typeface="Albert Sans" panose="020B0604020202020204" charset="0"/>
      <p:regular r:id="rId8"/>
      <p:bold r:id="rId9"/>
      <p:italic r:id="rId10"/>
      <p:boldItalic r:id="rId11"/>
    </p:embeddedFont>
    <p:embeddedFont>
      <p:font typeface="Syne" panose="020B0604020202020204" charset="0"/>
      <p:regular r:id="rId12"/>
      <p:bold r:id="rId13"/>
    </p:embeddedFont>
    <p:embeddedFont>
      <p:font typeface="Syne SemiBold"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E916D7E-B1F2-4363-AD6B-94603CCC6F66}">
  <a:tblStyle styleId="{EE916D7E-B1F2-4363-AD6B-94603CCC6F6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713A88F-8DAB-4929-A60B-3B079C2808B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9" d="100"/>
          <a:sy n="149" d="100"/>
        </p:scale>
        <p:origin x="50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title="techstartup-osc.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10" name="Google Shape;10;p2"/>
          <p:cNvSpPr txBox="1">
            <a:spLocks noGrp="1"/>
          </p:cNvSpPr>
          <p:nvPr>
            <p:ph type="ctrTitle"/>
          </p:nvPr>
        </p:nvSpPr>
        <p:spPr>
          <a:xfrm>
            <a:off x="713225" y="539500"/>
            <a:ext cx="7717500" cy="907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b="0">
                <a:latin typeface="Syne SemiBold"/>
                <a:ea typeface="Syne SemiBold"/>
                <a:cs typeface="Syne SemiBold"/>
                <a:sym typeface="Syne Semi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5389400" y="3946400"/>
            <a:ext cx="3041400" cy="657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title="techstartup-osc.jpg"/>
          <p:cNvPicPr preferRelativeResize="0"/>
          <p:nvPr/>
        </p:nvPicPr>
        <p:blipFill rotWithShape="1">
          <a:blip r:embed="rId2">
            <a:alphaModFix/>
          </a:blip>
          <a:srcRect t="31124" r="31124"/>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14" name="Google Shape;14;p3"/>
          <p:cNvSpPr txBox="1">
            <a:spLocks noGrp="1"/>
          </p:cNvSpPr>
          <p:nvPr>
            <p:ph type="title"/>
          </p:nvPr>
        </p:nvSpPr>
        <p:spPr>
          <a:xfrm>
            <a:off x="713225" y="3585200"/>
            <a:ext cx="7717800" cy="1018800"/>
          </a:xfrm>
          <a:prstGeom prst="rect">
            <a:avLst/>
          </a:prstGeom>
        </p:spPr>
        <p:txBody>
          <a:bodyPr spcFirstLastPara="1" wrap="square" lIns="91425" tIns="91425" rIns="91425" bIns="91425" anchor="t" anchorCtr="0">
            <a:noAutofit/>
          </a:bodyPr>
          <a:lstStyle>
            <a:lvl1pPr lvl="0" algn="r">
              <a:spcBef>
                <a:spcPts val="0"/>
              </a:spcBef>
              <a:spcAft>
                <a:spcPts val="0"/>
              </a:spcAft>
              <a:buSzPts val="3600"/>
              <a:buNone/>
              <a:defRPr sz="5000" b="0">
                <a:latin typeface="Syne SemiBold"/>
                <a:ea typeface="Syne SemiBold"/>
                <a:cs typeface="Syne SemiBold"/>
                <a:sym typeface="Syne SemiBo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13225" y="499725"/>
            <a:ext cx="1267500" cy="6846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000" b="0">
                <a:latin typeface="Syne SemiBold"/>
                <a:ea typeface="Syne SemiBold"/>
                <a:cs typeface="Syne SemiBold"/>
                <a:sym typeface="Syne Semi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pic>
        <p:nvPicPr>
          <p:cNvPr id="31" name="Google Shape;31;p7" title="techstartup-osc3.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32" name="Google Shape;32;p7"/>
          <p:cNvSpPr txBox="1">
            <a:spLocks noGrp="1"/>
          </p:cNvSpPr>
          <p:nvPr>
            <p:ph type="subTitle" idx="1"/>
          </p:nvPr>
        </p:nvSpPr>
        <p:spPr>
          <a:xfrm>
            <a:off x="4928800" y="1475100"/>
            <a:ext cx="3501900" cy="21933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33" name="Google Shape;33;p7"/>
          <p:cNvSpPr txBox="1">
            <a:spLocks noGrp="1"/>
          </p:cNvSpPr>
          <p:nvPr>
            <p:ph type="title"/>
          </p:nvPr>
        </p:nvSpPr>
        <p:spPr>
          <a:xfrm>
            <a:off x="811975" y="539488"/>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b="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4" name="Google Shape;34;p7"/>
          <p:cNvSpPr>
            <a:spLocks noGrp="1"/>
          </p:cNvSpPr>
          <p:nvPr>
            <p:ph type="pic" idx="2"/>
          </p:nvPr>
        </p:nvSpPr>
        <p:spPr>
          <a:xfrm>
            <a:off x="1" y="1476775"/>
            <a:ext cx="4294800" cy="36666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pic>
        <p:nvPicPr>
          <p:cNvPr id="36" name="Google Shape;36;p8" title="techstartup-osc.jpg"/>
          <p:cNvPicPr preferRelativeResize="0"/>
          <p:nvPr/>
        </p:nvPicPr>
        <p:blipFill rotWithShape="1">
          <a:blip r:embed="rId2">
            <a:alphaModFix/>
          </a:blip>
          <a:srcRect t="31124" r="31124"/>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37" name="Google Shape;37;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pic>
        <p:nvPicPr>
          <p:cNvPr id="39" name="Google Shape;39;p9" title="techstartup-osc.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40" name="Google Shape;40;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
        <p:nvSpPr>
          <p:cNvPr id="41" name="Google Shape;41;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a:spLocks noGrp="1"/>
          </p:cNvSpPr>
          <p:nvPr>
            <p:ph type="pic" idx="2"/>
          </p:nvPr>
        </p:nvSpPr>
        <p:spPr>
          <a:xfrm>
            <a:off x="0" y="0"/>
            <a:ext cx="9144000" cy="5143500"/>
          </a:xfrm>
          <a:prstGeom prst="rect">
            <a:avLst/>
          </a:prstGeom>
          <a:noFill/>
          <a:ln>
            <a:noFill/>
          </a:ln>
        </p:spPr>
      </p:sp>
      <p:sp>
        <p:nvSpPr>
          <p:cNvPr id="44" name="Google Shape;44;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2600"/>
              <a:buNone/>
              <a:defRPr>
                <a:solidFill>
                  <a:schemeClr val="lt1"/>
                </a:solidFill>
              </a:defRPr>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TITLE_ONLY_1_1">
    <p:spTree>
      <p:nvGrpSpPr>
        <p:cNvPr id="1" name="Shape 79"/>
        <p:cNvGrpSpPr/>
        <p:nvPr/>
      </p:nvGrpSpPr>
      <p:grpSpPr>
        <a:xfrm>
          <a:off x="0" y="0"/>
          <a:ext cx="0" cy="0"/>
          <a:chOff x="0" y="0"/>
          <a:chExt cx="0" cy="0"/>
        </a:xfrm>
      </p:grpSpPr>
      <p:pic>
        <p:nvPicPr>
          <p:cNvPr id="80" name="Google Shape;80;p17" title="techstartup-osc6.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81" name="Google Shape;8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8"/>
        <p:cNvGrpSpPr/>
        <p:nvPr/>
      </p:nvGrpSpPr>
      <p:grpSpPr>
        <a:xfrm>
          <a:off x="0" y="0"/>
          <a:ext cx="0" cy="0"/>
          <a:chOff x="0" y="0"/>
          <a:chExt cx="0" cy="0"/>
        </a:xfrm>
      </p:grpSpPr>
      <p:pic>
        <p:nvPicPr>
          <p:cNvPr id="109" name="Google Shape;109;p22" title="techstartup-osc4.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1pPr>
            <a:lvl2pPr lvl="1"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2pPr>
            <a:lvl3pPr lvl="2"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3pPr>
            <a:lvl4pPr lvl="3"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4pPr>
            <a:lvl5pPr lvl="4"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5pPr>
            <a:lvl6pPr lvl="5"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6pPr>
            <a:lvl7pPr lvl="6"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7pPr>
            <a:lvl8pPr lvl="7"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8pPr>
            <a:lvl9pPr lvl="8"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6" r:id="rId6"/>
    <p:sldLayoutId id="2147483658" r:id="rId7"/>
    <p:sldLayoutId id="2147483663" r:id="rId8"/>
    <p:sldLayoutId id="214748366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8" name="Google Shape;128;p28"/>
          <p:cNvSpPr txBox="1">
            <a:spLocks noGrp="1"/>
          </p:cNvSpPr>
          <p:nvPr>
            <p:ph type="ctrTitle"/>
          </p:nvPr>
        </p:nvSpPr>
        <p:spPr>
          <a:xfrm>
            <a:off x="713250" y="247506"/>
            <a:ext cx="7717500" cy="907200"/>
          </a:xfrm>
          <a:prstGeom prst="rect">
            <a:avLst/>
          </a:prstGeom>
        </p:spPr>
        <p:txBody>
          <a:bodyPr spcFirstLastPara="1" wrap="square" lIns="91425" tIns="91425" rIns="91425" bIns="91425" anchor="b" anchorCtr="0">
            <a:noAutofit/>
          </a:bodyPr>
          <a:lstStyle/>
          <a:p>
            <a:pPr lvl="0"/>
            <a:r>
              <a:rPr lang="en-US" sz="4000" b="1" dirty="0">
                <a:latin typeface="Times New Roman" panose="02020603050405020304" pitchFamily="18" charset="0"/>
                <a:cs typeface="Times New Roman" panose="02020603050405020304" pitchFamily="18" charset="0"/>
              </a:rPr>
              <a:t>Banking Data Analysis</a:t>
            </a:r>
            <a:endParaRPr sz="4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9DE0A98-FA40-4632-AF4D-5118E845B66A}"/>
              </a:ext>
            </a:extLst>
          </p:cNvPr>
          <p:cNvSpPr txBox="1"/>
          <p:nvPr/>
        </p:nvSpPr>
        <p:spPr>
          <a:xfrm>
            <a:off x="1077457" y="1544765"/>
            <a:ext cx="5419259" cy="2492990"/>
          </a:xfrm>
          <a:prstGeom prst="rect">
            <a:avLst/>
          </a:prstGeom>
          <a:noFill/>
        </p:spPr>
        <p:txBody>
          <a:bodyPr wrap="square">
            <a:spAutoFit/>
          </a:bodyPr>
          <a:lstStyle/>
          <a:p>
            <a:r>
              <a:rPr lang="en-IN" sz="2400" b="1" dirty="0">
                <a:solidFill>
                  <a:schemeClr val="tx1"/>
                </a:solidFill>
                <a:latin typeface="Times New Roman" panose="02020603050405020304" pitchFamily="18" charset="0"/>
                <a:cs typeface="Times New Roman" panose="02020603050405020304" pitchFamily="18" charset="0"/>
              </a:rPr>
              <a:t>Credit &amp; Deposit Analysis Data</a:t>
            </a:r>
          </a:p>
          <a:p>
            <a:endParaRPr lang="en-IN" sz="2400" b="1" dirty="0">
              <a:solidFill>
                <a:schemeClr val="tx1"/>
              </a:solidFill>
              <a:latin typeface="Times New Roman" panose="02020603050405020304" pitchFamily="18" charset="0"/>
              <a:cs typeface="Times New Roman" panose="02020603050405020304" pitchFamily="18" charset="0"/>
            </a:endParaRPr>
          </a:p>
          <a:p>
            <a:r>
              <a:rPr lang="en-GB" sz="1600" b="1" dirty="0">
                <a:solidFill>
                  <a:schemeClr val="tx1"/>
                </a:solidFill>
                <a:latin typeface="Times New Roman" panose="02020603050405020304" pitchFamily="18" charset="0"/>
                <a:cs typeface="Times New Roman" panose="02020603050405020304" pitchFamily="18" charset="0"/>
              </a:rPr>
              <a:t>Business Recommendations</a:t>
            </a:r>
            <a:r>
              <a:rPr lang="en-GB" sz="1600" dirty="0">
                <a:solidFill>
                  <a:schemeClr val="tx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Improving inflow mechanisms</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Branch-level KPIs</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Predictive analytics for high debit months</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Cost optimization through digital method adoption</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Targeted campaigns for high-volume banks</a:t>
            </a:r>
          </a:p>
          <a:p>
            <a:endParaRPr lang="en-IN" sz="12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2"/>
          <p:cNvSpPr txBox="1">
            <a:spLocks noGrp="1"/>
          </p:cNvSpPr>
          <p:nvPr>
            <p:ph type="title"/>
          </p:nvPr>
        </p:nvSpPr>
        <p:spPr>
          <a:xfrm>
            <a:off x="454004" y="274959"/>
            <a:ext cx="7358362" cy="601075"/>
          </a:xfrm>
          <a:prstGeom prst="rect">
            <a:avLst/>
          </a:prstGeom>
        </p:spPr>
        <p:txBody>
          <a:bodyPr spcFirstLastPara="1" wrap="square" lIns="91425" tIns="91425" rIns="91425" bIns="91425" anchor="t" anchorCtr="0">
            <a:noAutofit/>
          </a:bodyPr>
          <a:lstStyle/>
          <a:p>
            <a:pPr marL="0" indent="0" algn="l"/>
            <a:r>
              <a:rPr lang="en-IN" sz="3200" dirty="0">
                <a:latin typeface="Times New Roman" panose="02020603050405020304" pitchFamily="18" charset="0"/>
                <a:cs typeface="Times New Roman" panose="02020603050405020304" pitchFamily="18" charset="0"/>
              </a:rPr>
              <a:t>Challenges Faced During Cleaning</a:t>
            </a:r>
            <a:endParaRPr lang="en-US" sz="3200" dirty="0">
              <a:latin typeface="Times New Roman" panose="02020603050405020304" pitchFamily="18" charset="0"/>
              <a:cs typeface="Times New Roman" panose="02020603050405020304" pitchFamily="18" charset="0"/>
            </a:endParaRPr>
          </a:p>
        </p:txBody>
      </p:sp>
      <p:sp>
        <p:nvSpPr>
          <p:cNvPr id="4" name="Google Shape;173;p33">
            <a:extLst>
              <a:ext uri="{FF2B5EF4-FFF2-40B4-BE49-F238E27FC236}">
                <a16:creationId xmlns:a16="http://schemas.microsoft.com/office/drawing/2014/main" id="{6A558AC3-FCBA-4A44-97FB-8E1D4054827C}"/>
              </a:ext>
            </a:extLst>
          </p:cNvPr>
          <p:cNvSpPr txBox="1">
            <a:spLocks/>
          </p:cNvSpPr>
          <p:nvPr/>
        </p:nvSpPr>
        <p:spPr>
          <a:xfrm>
            <a:off x="511649" y="799301"/>
            <a:ext cx="6752396" cy="16241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Missing or incomplete values across key fields.</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Duplicate transactions and inconsistent formatting.</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Irregular customer name formats (Mr./Ms., casing, spaces).</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Unstandardized transaction types, bank names, and dates.</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Outliers or invalid numeric values (negative balance, etc.).</a:t>
            </a:r>
          </a:p>
        </p:txBody>
      </p:sp>
      <p:sp>
        <p:nvSpPr>
          <p:cNvPr id="8" name="Google Shape;164;p32">
            <a:extLst>
              <a:ext uri="{FF2B5EF4-FFF2-40B4-BE49-F238E27FC236}">
                <a16:creationId xmlns:a16="http://schemas.microsoft.com/office/drawing/2014/main" id="{A919BA5A-4010-42ED-B769-A05376CC1FB1}"/>
              </a:ext>
            </a:extLst>
          </p:cNvPr>
          <p:cNvSpPr txBox="1">
            <a:spLocks/>
          </p:cNvSpPr>
          <p:nvPr/>
        </p:nvSpPr>
        <p:spPr>
          <a:xfrm>
            <a:off x="454004" y="2346748"/>
            <a:ext cx="7358362" cy="601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Syne"/>
              <a:buNone/>
              <a:defRPr sz="5000" b="0" i="0" u="none" strike="noStrike" cap="none">
                <a:solidFill>
                  <a:schemeClr val="dk1"/>
                </a:solidFill>
                <a:latin typeface="Syne SemiBold"/>
                <a:ea typeface="Syne SemiBold"/>
                <a:cs typeface="Syne SemiBold"/>
                <a:sym typeface="Syne SemiBold"/>
              </a:defRPr>
            </a:lvl1pPr>
            <a:lvl2pPr marR="0" lvl="1"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2pPr>
            <a:lvl3pPr marR="0" lvl="2"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3pPr>
            <a:lvl4pPr marR="0" lvl="3"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4pPr>
            <a:lvl5pPr marR="0" lvl="4"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5pPr>
            <a:lvl6pPr marR="0" lvl="5"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6pPr>
            <a:lvl7pPr marR="0" lvl="6"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7pPr>
            <a:lvl8pPr marR="0" lvl="7"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8pPr>
            <a:lvl9pPr marR="0" lvl="8"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9pPr>
          </a:lstStyle>
          <a:p>
            <a:pPr algn="l"/>
            <a:r>
              <a:rPr lang="en-US" sz="2800" dirty="0">
                <a:latin typeface="Times New Roman" panose="02020603050405020304" pitchFamily="18" charset="0"/>
                <a:cs typeface="Times New Roman" panose="02020603050405020304" pitchFamily="18" charset="0"/>
              </a:rPr>
              <a:t>How the Data Was Cleaned and Handled</a:t>
            </a:r>
          </a:p>
        </p:txBody>
      </p:sp>
      <p:sp>
        <p:nvSpPr>
          <p:cNvPr id="9" name="Google Shape;173;p33">
            <a:extLst>
              <a:ext uri="{FF2B5EF4-FFF2-40B4-BE49-F238E27FC236}">
                <a16:creationId xmlns:a16="http://schemas.microsoft.com/office/drawing/2014/main" id="{FF8B768F-AFD9-4221-AAEE-F6E6ECFFA06E}"/>
              </a:ext>
            </a:extLst>
          </p:cNvPr>
          <p:cNvSpPr txBox="1">
            <a:spLocks/>
          </p:cNvSpPr>
          <p:nvPr/>
        </p:nvSpPr>
        <p:spPr>
          <a:xfrm>
            <a:off x="454004" y="2794357"/>
            <a:ext cx="6752396" cy="18287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Removed duplicated records for accuracy.</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Dropped rows with missing critical fields.</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Standardized customer names, dates, bank names, and currency.</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Categorized transaction methods and added branch details.</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Cleaned numeric fields by removing invalid values.</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Exported final dataset with 17 structured fields.</a:t>
            </a:r>
          </a:p>
        </p:txBody>
      </p:sp>
      <p:sp>
        <p:nvSpPr>
          <p:cNvPr id="2" name="TextBox 1">
            <a:extLst>
              <a:ext uri="{FF2B5EF4-FFF2-40B4-BE49-F238E27FC236}">
                <a16:creationId xmlns:a16="http://schemas.microsoft.com/office/drawing/2014/main" id="{728AF8D8-0CF1-4908-9084-BDCD9F7FA504}"/>
              </a:ext>
            </a:extLst>
          </p:cNvPr>
          <p:cNvSpPr txBox="1"/>
          <p:nvPr/>
        </p:nvSpPr>
        <p:spPr>
          <a:xfrm>
            <a:off x="3657600" y="1656151"/>
            <a:ext cx="1828800" cy="1828800"/>
          </a:xfrm>
          <a:prstGeom prst="rect">
            <a:avLst/>
          </a:prstGeom>
          <a:noFill/>
        </p:spPr>
        <p:txBody>
          <a:bodyPr wrap="square" rtlCol="0">
            <a:spAutoFit/>
          </a:bodyPr>
          <a:lstStyle/>
          <a:p>
            <a:r>
              <a:rPr lang="en-US" sz="1400" b="0" i="0" u="none" strike="noStrike" cap="none" dirty="0">
                <a:solidFill>
                  <a:srgbClr val="000000"/>
                </a:solidFill>
                <a:latin typeface="Arial"/>
                <a:ea typeface="Arial"/>
                <a:cs typeface="Arial"/>
                <a:sym typeface="Arial"/>
              </a:rPr>
              <a:t>Your text here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0B9A-F6B7-4F34-95AC-62E6770B19B1}"/>
              </a:ext>
            </a:extLst>
          </p:cNvPr>
          <p:cNvSpPr>
            <a:spLocks noGrp="1"/>
          </p:cNvSpPr>
          <p:nvPr>
            <p:ph type="title"/>
          </p:nvPr>
        </p:nvSpPr>
        <p:spPr>
          <a:xfrm>
            <a:off x="242987" y="748146"/>
            <a:ext cx="4201125" cy="4094580"/>
          </a:xfrm>
        </p:spPr>
        <p:txBody>
          <a:bodyPr/>
          <a:lstStyle/>
          <a:p>
            <a:pPr algn="l"/>
            <a:r>
              <a:rPr lang="en-GB" sz="1400" b="1" dirty="0">
                <a:latin typeface="Times New Roman" panose="02020603050405020304" pitchFamily="18" charset="0"/>
                <a:cs typeface="Times New Roman" panose="02020603050405020304" pitchFamily="18" charset="0"/>
              </a:rPr>
              <a:t>Credit &amp; Debit Are Almost Equal → Net Amount Is Negative</a:t>
            </a:r>
            <a:br>
              <a:rPr lang="en-GB" sz="1400" b="1" dirty="0">
                <a:latin typeface="Times New Roman" panose="02020603050405020304" pitchFamily="18" charset="0"/>
                <a:cs typeface="Times New Roman" panose="02020603050405020304" pitchFamily="18" charset="0"/>
              </a:rPr>
            </a:br>
            <a:br>
              <a:rPr lang="en-GB" sz="1000" b="1"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Total Credit:</a:t>
            </a:r>
            <a:r>
              <a:rPr lang="en-GB" sz="11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~115M</a:t>
            </a: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Total Debit:</a:t>
            </a:r>
            <a:r>
              <a:rPr lang="en-GB" sz="11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~115.38M</a:t>
            </a: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Net Amount:</a:t>
            </a:r>
            <a:r>
              <a:rPr lang="en-GB" sz="11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–349K</a:t>
            </a:r>
            <a:br>
              <a:rPr lang="en-GB" sz="110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The bank is </a:t>
            </a:r>
            <a:r>
              <a:rPr lang="en-GB" sz="1100" b="1" dirty="0">
                <a:latin typeface="Times New Roman" panose="02020603050405020304" pitchFamily="18" charset="0"/>
                <a:cs typeface="Times New Roman" panose="02020603050405020304" pitchFamily="18" charset="0"/>
              </a:rPr>
              <a:t>losing more money than it gains</a:t>
            </a:r>
            <a:r>
              <a:rPr lang="en-GB" sz="1100" dirty="0">
                <a:latin typeface="Times New Roman" panose="02020603050405020304" pitchFamily="18" charset="0"/>
                <a:cs typeface="Times New Roman" panose="02020603050405020304" pitchFamily="18" charset="0"/>
              </a:rPr>
              <a:t>.</a:t>
            </a:r>
            <a:br>
              <a:rPr lang="en-GB" sz="1100" dirty="0">
                <a:latin typeface="Times New Roman" panose="02020603050405020304" pitchFamily="18" charset="0"/>
                <a:cs typeface="Times New Roman" panose="02020603050405020304" pitchFamily="18" charset="0"/>
              </a:rPr>
            </a:b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Problem</a:t>
            </a:r>
            <a:br>
              <a:rPr lang="en-GB" sz="1100" b="1"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High debit outflow compared to credit inflow.</a:t>
            </a:r>
            <a:br>
              <a:rPr lang="en-GB" sz="110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Some banks or branches show higher debit patterns (expenses, refunds, withdrawals).</a:t>
            </a:r>
            <a:br>
              <a:rPr lang="en-GB" sz="1100" dirty="0">
                <a:latin typeface="Times New Roman" panose="02020603050405020304" pitchFamily="18" charset="0"/>
                <a:cs typeface="Times New Roman" panose="02020603050405020304" pitchFamily="18" charset="0"/>
              </a:rPr>
            </a:b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Solution</a:t>
            </a:r>
            <a:br>
              <a:rPr lang="en-GB" sz="1100" b="1"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Identify customer segments or branches responsible for the extra debit.</a:t>
            </a:r>
            <a:br>
              <a:rPr lang="en-GB" sz="110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Introduce automated alerts for abnormal debit patterns.</a:t>
            </a:r>
            <a:br>
              <a:rPr lang="en-GB" sz="1100" dirty="0">
                <a:latin typeface="Times New Roman" panose="02020603050405020304" pitchFamily="18" charset="0"/>
                <a:cs typeface="Times New Roman" panose="02020603050405020304" pitchFamily="18" charset="0"/>
              </a:rPr>
            </a:b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Recommendation</a:t>
            </a:r>
            <a:br>
              <a:rPr lang="en-GB" sz="1100" b="1"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Launch </a:t>
            </a:r>
            <a:r>
              <a:rPr lang="en-GB" sz="1100" b="1" dirty="0">
                <a:latin typeface="Times New Roman" panose="02020603050405020304" pitchFamily="18" charset="0"/>
                <a:cs typeface="Times New Roman" panose="02020603050405020304" pitchFamily="18" charset="0"/>
              </a:rPr>
              <a:t>high-interest savings products</a:t>
            </a:r>
            <a:r>
              <a:rPr lang="en-GB" sz="1100" dirty="0">
                <a:latin typeface="Times New Roman" panose="02020603050405020304" pitchFamily="18" charset="0"/>
                <a:cs typeface="Times New Roman" panose="02020603050405020304" pitchFamily="18" charset="0"/>
              </a:rPr>
              <a:t> to increase deposits.</a:t>
            </a:r>
            <a:br>
              <a:rPr lang="en-GB" sz="110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Implement </a:t>
            </a:r>
            <a:r>
              <a:rPr lang="en-GB" sz="1100" b="1" dirty="0">
                <a:latin typeface="Times New Roman" panose="02020603050405020304" pitchFamily="18" charset="0"/>
                <a:cs typeface="Times New Roman" panose="02020603050405020304" pitchFamily="18" charset="0"/>
              </a:rPr>
              <a:t>monthly debit monitoring dashboard</a:t>
            </a:r>
            <a:r>
              <a:rPr lang="en-GB" sz="1100" dirty="0">
                <a:latin typeface="Times New Roman" panose="02020603050405020304" pitchFamily="18" charset="0"/>
                <a:cs typeface="Times New Roman" panose="02020603050405020304" pitchFamily="18" charset="0"/>
              </a:rPr>
              <a:t> for early detection of high outflows.</a:t>
            </a:r>
            <a:br>
              <a:rPr lang="en-GB" sz="11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7D66F7B-5141-428A-837F-0D0F7FB0D824}"/>
              </a:ext>
            </a:extLst>
          </p:cNvPr>
          <p:cNvSpPr>
            <a:spLocks noGrp="1"/>
          </p:cNvSpPr>
          <p:nvPr>
            <p:ph type="title" idx="2"/>
          </p:nvPr>
        </p:nvSpPr>
        <p:spPr>
          <a:xfrm>
            <a:off x="495815" y="216582"/>
            <a:ext cx="7823306" cy="621085"/>
          </a:xfrm>
        </p:spPr>
        <p:txBody>
          <a:bodyPr/>
          <a:lstStyle/>
          <a:p>
            <a:r>
              <a:rPr lang="en-GB" sz="3200" dirty="0"/>
              <a:t>Key Insights with Recommendations </a:t>
            </a:r>
            <a:endParaRPr lang="en-IN" sz="3200" dirty="0"/>
          </a:p>
        </p:txBody>
      </p:sp>
      <p:sp>
        <p:nvSpPr>
          <p:cNvPr id="4" name="Title 1">
            <a:extLst>
              <a:ext uri="{FF2B5EF4-FFF2-40B4-BE49-F238E27FC236}">
                <a16:creationId xmlns:a16="http://schemas.microsoft.com/office/drawing/2014/main" id="{A0ECA170-F60F-4DEF-BB0B-500212E9235F}"/>
              </a:ext>
            </a:extLst>
          </p:cNvPr>
          <p:cNvSpPr txBox="1">
            <a:spLocks/>
          </p:cNvSpPr>
          <p:nvPr/>
        </p:nvSpPr>
        <p:spPr>
          <a:xfrm>
            <a:off x="4572000" y="760935"/>
            <a:ext cx="4469690" cy="40050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Syne"/>
              <a:buNone/>
              <a:defRPr sz="5000" b="0" i="0" u="none" strike="noStrike" cap="none">
                <a:solidFill>
                  <a:schemeClr val="dk1"/>
                </a:solidFill>
                <a:latin typeface="Syne SemiBold"/>
                <a:ea typeface="Syne SemiBold"/>
                <a:cs typeface="Syne SemiBold"/>
                <a:sym typeface="Syne SemiBold"/>
              </a:defRPr>
            </a:lvl1pPr>
            <a:lvl2pPr marR="0" lvl="1"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2pPr>
            <a:lvl3pPr marR="0" lvl="2"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3pPr>
            <a:lvl4pPr marR="0" lvl="3"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4pPr>
            <a:lvl5pPr marR="0" lvl="4"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5pPr>
            <a:lvl6pPr marR="0" lvl="5"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6pPr>
            <a:lvl7pPr marR="0" lvl="6"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7pPr>
            <a:lvl8pPr marR="0" lvl="7"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8pPr>
            <a:lvl9pPr marR="0" lvl="8"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9pPr>
          </a:lstStyle>
          <a:p>
            <a:pPr algn="l"/>
            <a:r>
              <a:rPr lang="en-GB" sz="1100" b="1" dirty="0">
                <a:latin typeface="Times New Roman" panose="02020603050405020304" pitchFamily="18" charset="0"/>
                <a:cs typeface="Times New Roman" panose="02020603050405020304" pitchFamily="18" charset="0"/>
              </a:rPr>
              <a:t>Certain Banks Handle Higher Transaction Volumes but Do Not Show Higher Balances</a:t>
            </a:r>
          </a:p>
          <a:p>
            <a:pPr algn="l"/>
            <a:endParaRPr lang="en-GB" sz="1000" b="1" dirty="0">
              <a:latin typeface="Times New Roman" panose="02020603050405020304" pitchFamily="18" charset="0"/>
              <a:cs typeface="Times New Roman" panose="02020603050405020304" pitchFamily="18" charset="0"/>
            </a:endParaRPr>
          </a:p>
          <a:p>
            <a:pPr algn="l"/>
            <a:r>
              <a:rPr lang="en-GB" sz="1100" dirty="0">
                <a:latin typeface="Times New Roman" panose="02020603050405020304" pitchFamily="18" charset="0"/>
                <a:cs typeface="Times New Roman" panose="02020603050405020304" pitchFamily="18" charset="0"/>
              </a:rPr>
              <a:t>From charts “Sum of Amount by Bank Name”:</a:t>
            </a:r>
          </a:p>
          <a:p>
            <a:pPr algn="l"/>
            <a:r>
              <a:rPr lang="en-GB" sz="1100" dirty="0">
                <a:latin typeface="Times New Roman" panose="02020603050405020304" pitchFamily="18" charset="0"/>
                <a:cs typeface="Times New Roman" panose="02020603050405020304" pitchFamily="18" charset="0"/>
              </a:rPr>
              <a:t>Kotak Mahindra, SBI, ICICI handle </a:t>
            </a:r>
            <a:r>
              <a:rPr lang="en-GB" sz="1100" b="1" dirty="0">
                <a:latin typeface="Times New Roman" panose="02020603050405020304" pitchFamily="18" charset="0"/>
                <a:cs typeface="Times New Roman" panose="02020603050405020304" pitchFamily="18" charset="0"/>
              </a:rPr>
              <a:t>highest transaction volumes</a:t>
            </a:r>
            <a:r>
              <a:rPr lang="en-GB" sz="1100" dirty="0">
                <a:latin typeface="Times New Roman" panose="02020603050405020304" pitchFamily="18" charset="0"/>
                <a:cs typeface="Times New Roman" panose="02020603050405020304" pitchFamily="18" charset="0"/>
              </a:rPr>
              <a:t> (~19–20M each).</a:t>
            </a:r>
          </a:p>
          <a:p>
            <a:pPr algn="l"/>
            <a:r>
              <a:rPr lang="en-GB" sz="1100" dirty="0">
                <a:latin typeface="Times New Roman" panose="02020603050405020304" pitchFamily="18" charset="0"/>
                <a:cs typeface="Times New Roman" panose="02020603050405020304" pitchFamily="18" charset="0"/>
              </a:rPr>
              <a:t>But credit and debit values are almost identical → </a:t>
            </a:r>
            <a:r>
              <a:rPr lang="en-GB" sz="1100" b="1" dirty="0">
                <a:latin typeface="Times New Roman" panose="02020603050405020304" pitchFamily="18" charset="0"/>
                <a:cs typeface="Times New Roman" panose="02020603050405020304" pitchFamily="18" charset="0"/>
              </a:rPr>
              <a:t>no surplus generated</a:t>
            </a:r>
            <a:r>
              <a:rPr lang="en-GB" sz="1100" dirty="0">
                <a:latin typeface="Times New Roman" panose="02020603050405020304" pitchFamily="18" charset="0"/>
                <a:cs typeface="Times New Roman" panose="02020603050405020304" pitchFamily="18" charset="0"/>
              </a:rPr>
              <a:t>.</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Problem</a:t>
            </a:r>
          </a:p>
          <a:p>
            <a:pPr algn="l"/>
            <a:r>
              <a:rPr lang="en-GB" sz="1100" dirty="0">
                <a:latin typeface="Times New Roman" panose="02020603050405020304" pitchFamily="18" charset="0"/>
                <a:cs typeface="Times New Roman" panose="02020603050405020304" pitchFamily="18" charset="0"/>
              </a:rPr>
              <a:t>High volume does not translate to high profitability.</a:t>
            </a:r>
          </a:p>
          <a:p>
            <a:pPr algn="l"/>
            <a:r>
              <a:rPr lang="en-GB" sz="1100" dirty="0">
                <a:latin typeface="Times New Roman" panose="02020603050405020304" pitchFamily="18" charset="0"/>
                <a:cs typeface="Times New Roman" panose="02020603050405020304" pitchFamily="18" charset="0"/>
              </a:rPr>
              <a:t>No differentiation in customer behaviour across banks.</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Solution</a:t>
            </a:r>
          </a:p>
          <a:p>
            <a:pPr algn="l"/>
            <a:r>
              <a:rPr lang="en-GB" sz="1100" dirty="0">
                <a:latin typeface="Times New Roman" panose="02020603050405020304" pitchFamily="18" charset="0"/>
                <a:cs typeface="Times New Roman" panose="02020603050405020304" pitchFamily="18" charset="0"/>
              </a:rPr>
              <a:t>Conduct profitability segmentation by:</a:t>
            </a:r>
          </a:p>
          <a:p>
            <a:pPr marL="457200" lvl="1" algn="l"/>
            <a:r>
              <a:rPr lang="en-GB" sz="1100" dirty="0">
                <a:latin typeface="Times New Roman" panose="02020603050405020304" pitchFamily="18" charset="0"/>
                <a:cs typeface="Times New Roman" panose="02020603050405020304" pitchFamily="18" charset="0"/>
              </a:rPr>
              <a:t>Customer category</a:t>
            </a:r>
          </a:p>
          <a:p>
            <a:pPr marL="457200" lvl="1" algn="l"/>
            <a:r>
              <a:rPr lang="en-GB" sz="1100" dirty="0">
                <a:latin typeface="Times New Roman" panose="02020603050405020304" pitchFamily="18" charset="0"/>
                <a:cs typeface="Times New Roman" panose="02020603050405020304" pitchFamily="18" charset="0"/>
              </a:rPr>
              <a:t>Product type (credit card, bank transfer, cash)</a:t>
            </a:r>
          </a:p>
          <a:p>
            <a:pPr marL="457200" lvl="1" algn="l"/>
            <a:r>
              <a:rPr lang="en-GB" sz="1100" dirty="0">
                <a:latin typeface="Times New Roman" panose="02020603050405020304" pitchFamily="18" charset="0"/>
                <a:cs typeface="Times New Roman" panose="02020603050405020304" pitchFamily="18" charset="0"/>
              </a:rPr>
              <a:t>High-value vs. low-value accounts</a:t>
            </a:r>
          </a:p>
          <a:p>
            <a:pPr marL="457200" lvl="1"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Recommendation</a:t>
            </a:r>
          </a:p>
          <a:p>
            <a:pPr algn="l"/>
            <a:r>
              <a:rPr lang="en-GB" sz="1100" dirty="0">
                <a:latin typeface="Times New Roman" panose="02020603050405020304" pitchFamily="18" charset="0"/>
                <a:cs typeface="Times New Roman" panose="02020603050405020304" pitchFamily="18" charset="0"/>
              </a:rPr>
              <a:t>Introduce </a:t>
            </a:r>
            <a:r>
              <a:rPr lang="en-GB" sz="1100" b="1" dirty="0">
                <a:latin typeface="Times New Roman" panose="02020603050405020304" pitchFamily="18" charset="0"/>
                <a:cs typeface="Times New Roman" panose="02020603050405020304" pitchFamily="18" charset="0"/>
              </a:rPr>
              <a:t>bank-specific targeted cross-sell campaigns</a:t>
            </a:r>
            <a:r>
              <a:rPr lang="en-GB" sz="1100" dirty="0">
                <a:latin typeface="Times New Roman" panose="02020603050405020304" pitchFamily="18" charset="0"/>
                <a:cs typeface="Times New Roman" panose="02020603050405020304" pitchFamily="18" charset="0"/>
              </a:rPr>
              <a:t> (credit cards, loans, savings plans) to improve profitability from high-volume banks.</a:t>
            </a:r>
          </a:p>
          <a:p>
            <a:pPr algn="l"/>
            <a:br>
              <a:rPr lang="en-GB" sz="11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994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AFFAA-C24F-4F79-B06E-632DBB491F1F}"/>
              </a:ext>
            </a:extLst>
          </p:cNvPr>
          <p:cNvSpPr>
            <a:spLocks noGrp="1"/>
          </p:cNvSpPr>
          <p:nvPr>
            <p:ph type="title"/>
          </p:nvPr>
        </p:nvSpPr>
        <p:spPr>
          <a:xfrm>
            <a:off x="182870" y="150882"/>
            <a:ext cx="2643457" cy="4408329"/>
          </a:xfrm>
        </p:spPr>
        <p:txBody>
          <a:bodyPr/>
          <a:lstStyle/>
          <a:p>
            <a:r>
              <a:rPr lang="en-GB" sz="1100" b="1" dirty="0">
                <a:latin typeface="Times New Roman" panose="02020603050405020304" pitchFamily="18" charset="0"/>
                <a:cs typeface="Times New Roman" panose="02020603050405020304" pitchFamily="18" charset="0"/>
              </a:rPr>
              <a:t>Branch-Level Performance Shows Low Variance But No Clear Leaders</a:t>
            </a:r>
            <a:br>
              <a:rPr lang="en-GB" sz="1100" b="1" dirty="0">
                <a:latin typeface="Times New Roman" panose="02020603050405020304" pitchFamily="18" charset="0"/>
                <a:cs typeface="Times New Roman" panose="02020603050405020304" pitchFamily="18" charset="0"/>
              </a:rPr>
            </a:br>
            <a:br>
              <a:rPr lang="en-GB" sz="1100" b="1"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All branches (East, City Centre, Suburban, Main Branch) show similar total transaction amounts around 19M.</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No branch is significantly outperforming</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 → flat performance.</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Problem</a:t>
            </a:r>
            <a:br>
              <a:rPr lang="en-GB" sz="110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Lack of branch differentiation.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Branch managers may not focus on targeted growth.</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Solution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Introduce branch KPIs:</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Customer acquisition rate</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Credit-to-debit improvement metric</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Cross-sell success rate</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Recommendation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Implement performance-based incentive programs to drive branch-specific improvements.</a:t>
            </a:r>
            <a:br>
              <a:rPr lang="en-GB" sz="1100" dirty="0">
                <a:latin typeface="Times New Roman" panose="02020603050405020304" pitchFamily="18" charset="0"/>
                <a:cs typeface="Times New Roman" panose="02020603050405020304" pitchFamily="18" charset="0"/>
              </a:rPr>
            </a:br>
            <a:endParaRPr lang="en-IN" sz="11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A9EC19DC-B7E7-4E7B-BF92-EB66AD8D7E41}"/>
              </a:ext>
            </a:extLst>
          </p:cNvPr>
          <p:cNvSpPr txBox="1">
            <a:spLocks/>
          </p:cNvSpPr>
          <p:nvPr/>
        </p:nvSpPr>
        <p:spPr>
          <a:xfrm>
            <a:off x="3062921" y="135509"/>
            <a:ext cx="2772410" cy="44083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dirty="0">
                <a:latin typeface="Times New Roman" panose="02020603050405020304" pitchFamily="18" charset="0"/>
                <a:cs typeface="Times New Roman" panose="02020603050405020304" pitchFamily="18" charset="0"/>
              </a:rPr>
              <a:t>Debit Transactions Spike in Certain Months (Oct–Dec)</a:t>
            </a:r>
          </a:p>
          <a:p>
            <a:endParaRPr lang="en-GB" sz="110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From the month-wise trend:</a:t>
            </a:r>
          </a:p>
          <a:p>
            <a:r>
              <a:rPr lang="en-GB" sz="1100" b="0" dirty="0">
                <a:latin typeface="Times New Roman" panose="02020603050405020304" pitchFamily="18" charset="0"/>
                <a:cs typeface="Times New Roman" panose="02020603050405020304" pitchFamily="18" charset="0"/>
              </a:rPr>
              <a:t>Months like October–December show higher debit volumes compared to credit.</a:t>
            </a:r>
          </a:p>
          <a:p>
            <a:r>
              <a:rPr lang="en-GB" sz="1100" b="0" dirty="0">
                <a:latin typeface="Times New Roman" panose="02020603050405020304" pitchFamily="18" charset="0"/>
                <a:cs typeface="Times New Roman" panose="02020603050405020304" pitchFamily="18" charset="0"/>
              </a:rPr>
              <a:t>Possible seasonal withdrawals or pay-outs.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Seasonal cash outflow increases risk of liquidity imbalance.</a:t>
            </a:r>
          </a:p>
          <a:p>
            <a:r>
              <a:rPr lang="en-GB" sz="1100" b="0" dirty="0">
                <a:latin typeface="Times New Roman" panose="02020603050405020304" pitchFamily="18" charset="0"/>
                <a:cs typeface="Times New Roman" panose="02020603050405020304" pitchFamily="18" charset="0"/>
              </a:rPr>
              <a:t>Customer credit inflow does not increase proportionally.</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Predictive modelling to forecast debit surges.</a:t>
            </a:r>
          </a:p>
          <a:p>
            <a:r>
              <a:rPr lang="en-GB" sz="1100" b="0" dirty="0">
                <a:latin typeface="Times New Roman" panose="02020603050405020304" pitchFamily="18" charset="0"/>
                <a:cs typeface="Times New Roman" panose="02020603050405020304" pitchFamily="18" charset="0"/>
              </a:rPr>
              <a:t>Seasonal promotional campaigns to keep funds within the bank (FD/SIP offers).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Launch Q3-Q4 retention campaigns:</a:t>
            </a:r>
          </a:p>
          <a:p>
            <a:pPr marL="457200" lvl="1"/>
            <a:r>
              <a:rPr lang="en-GB" sz="1100" b="0" dirty="0">
                <a:latin typeface="Times New Roman" panose="02020603050405020304" pitchFamily="18" charset="0"/>
                <a:cs typeface="Times New Roman" panose="02020603050405020304" pitchFamily="18" charset="0"/>
              </a:rPr>
              <a:t>“Year-end festival savings offers”</a:t>
            </a:r>
          </a:p>
          <a:p>
            <a:pPr marL="457200" lvl="1"/>
            <a:r>
              <a:rPr lang="en-GB" sz="1100" b="0" dirty="0">
                <a:latin typeface="Times New Roman" panose="02020603050405020304" pitchFamily="18" charset="0"/>
                <a:cs typeface="Times New Roman" panose="02020603050405020304" pitchFamily="18" charset="0"/>
              </a:rPr>
              <a:t>Incentivized long-term deposits</a:t>
            </a:r>
          </a:p>
        </p:txBody>
      </p:sp>
      <p:sp>
        <p:nvSpPr>
          <p:cNvPr id="4" name="Title 1">
            <a:extLst>
              <a:ext uri="{FF2B5EF4-FFF2-40B4-BE49-F238E27FC236}">
                <a16:creationId xmlns:a16="http://schemas.microsoft.com/office/drawing/2014/main" id="{A38770FF-CF85-4E79-BD1C-7F1740AD9B26}"/>
              </a:ext>
            </a:extLst>
          </p:cNvPr>
          <p:cNvSpPr txBox="1">
            <a:spLocks/>
          </p:cNvSpPr>
          <p:nvPr/>
        </p:nvSpPr>
        <p:spPr>
          <a:xfrm>
            <a:off x="6081080" y="135509"/>
            <a:ext cx="2978727" cy="44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dirty="0">
                <a:latin typeface="Times New Roman" panose="02020603050405020304" pitchFamily="18" charset="0"/>
                <a:cs typeface="Times New Roman" panose="02020603050405020304" pitchFamily="18" charset="0"/>
              </a:rPr>
              <a:t>Transaction Method Distribution Is Skewed</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Pie chart shows:</a:t>
            </a:r>
          </a:p>
          <a:p>
            <a:r>
              <a:rPr lang="en-GB" sz="1100" b="0" dirty="0">
                <a:latin typeface="Times New Roman" panose="02020603050405020304" pitchFamily="18" charset="0"/>
                <a:cs typeface="Times New Roman" panose="02020603050405020304" pitchFamily="18" charset="0"/>
              </a:rPr>
              <a:t>33% via credit card</a:t>
            </a:r>
          </a:p>
          <a:p>
            <a:r>
              <a:rPr lang="en-GB" sz="1100" b="0" dirty="0">
                <a:latin typeface="Times New Roman" panose="02020603050405020304" pitchFamily="18" charset="0"/>
                <a:cs typeface="Times New Roman" panose="02020603050405020304" pitchFamily="18" charset="0"/>
              </a:rPr>
              <a:t>33% via debit card</a:t>
            </a:r>
          </a:p>
          <a:p>
            <a:r>
              <a:rPr lang="en-GB" sz="1100" b="0" dirty="0">
                <a:latin typeface="Times New Roman" panose="02020603050405020304" pitchFamily="18" charset="0"/>
                <a:cs typeface="Times New Roman" panose="02020603050405020304" pitchFamily="18" charset="0"/>
              </a:rPr>
              <a:t>33% via bank transfer</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All methods equally used.</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No dominant method → Difficult to optimize payment infrastructure.</a:t>
            </a:r>
          </a:p>
          <a:p>
            <a:r>
              <a:rPr lang="en-GB" sz="1100" b="0" dirty="0">
                <a:latin typeface="Times New Roman" panose="02020603050405020304" pitchFamily="18" charset="0"/>
                <a:cs typeface="Times New Roman" panose="02020603050405020304" pitchFamily="18" charset="0"/>
              </a:rPr>
              <a:t>Costs of processing remain high because no method is leveraged strategically.</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Identify customer-wise method preference (salary transfers, UPI, cards, etc.)</a:t>
            </a:r>
          </a:p>
          <a:p>
            <a:r>
              <a:rPr lang="en-GB" sz="1100" b="0" dirty="0">
                <a:latin typeface="Times New Roman" panose="02020603050405020304" pitchFamily="18" charset="0"/>
                <a:cs typeface="Times New Roman" panose="02020603050405020304" pitchFamily="18" charset="0"/>
              </a:rPr>
              <a:t>Shift high-cost transactions to low-cost digital channels.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Offer incentives for online banking or UPI methods which have lower transaction costs.</a:t>
            </a:r>
          </a:p>
          <a:p>
            <a:r>
              <a:rPr lang="en-GB" sz="1100" b="0" dirty="0">
                <a:latin typeface="Times New Roman" panose="02020603050405020304" pitchFamily="18" charset="0"/>
                <a:cs typeface="Times New Roman" panose="02020603050405020304" pitchFamily="18" charset="0"/>
              </a:rPr>
              <a:t>Promote cashless campaigns at branches for operational cost reduction.</a:t>
            </a:r>
          </a:p>
        </p:txBody>
      </p:sp>
    </p:spTree>
    <p:extLst>
      <p:ext uri="{BB962C8B-B14F-4D97-AF65-F5344CB8AC3E}">
        <p14:creationId xmlns:p14="http://schemas.microsoft.com/office/powerpoint/2010/main" val="2024129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5EC1F2-85CF-4D91-B1DA-212B7BCA151B}"/>
              </a:ext>
            </a:extLst>
          </p:cNvPr>
          <p:cNvPicPr>
            <a:picLocks noChangeAspect="1"/>
          </p:cNvPicPr>
          <p:nvPr/>
        </p:nvPicPr>
        <p:blipFill rotWithShape="1">
          <a:blip r:embed="rId2"/>
          <a:srcRect l="2254" t="15679" r="20946" b="7757"/>
          <a:stretch/>
        </p:blipFill>
        <p:spPr>
          <a:xfrm>
            <a:off x="166255" y="193790"/>
            <a:ext cx="8709180" cy="4883808"/>
          </a:xfrm>
          <a:prstGeom prst="rect">
            <a:avLst/>
          </a:prstGeom>
        </p:spPr>
      </p:pic>
    </p:spTree>
    <p:extLst>
      <p:ext uri="{BB962C8B-B14F-4D97-AF65-F5344CB8AC3E}">
        <p14:creationId xmlns:p14="http://schemas.microsoft.com/office/powerpoint/2010/main" val="2639814594"/>
      </p:ext>
    </p:extLst>
  </p:cSld>
  <p:clrMapOvr>
    <a:masterClrMapping/>
  </p:clrMapOvr>
</p:sld>
</file>

<file path=ppt/theme/theme1.xml><?xml version="1.0" encoding="utf-8"?>
<a:theme xmlns:a="http://schemas.openxmlformats.org/drawingml/2006/main"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2112</TotalTime>
  <Words>671</Words>
  <Application>Microsoft Office PowerPoint</Application>
  <PresentationFormat>On-screen Show (16:9)</PresentationFormat>
  <Paragraphs>81</Paragraphs>
  <Slides>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Albert Sans</vt:lpstr>
      <vt:lpstr>Arial</vt:lpstr>
      <vt:lpstr>Times New Roman</vt:lpstr>
      <vt:lpstr>Syne</vt:lpstr>
      <vt:lpstr>Syne SemiBold</vt:lpstr>
      <vt:lpstr>Tech Startup by Slidesgo</vt:lpstr>
      <vt:lpstr>Banking Data Analysis</vt:lpstr>
      <vt:lpstr>Challenges Faced During Cleaning</vt:lpstr>
      <vt:lpstr>Credit &amp; Debit Are Almost Equal → Net Amount Is Negative  Total Credit: ~115M Total Debit: ~115.38M Net Amount: –349K The bank is losing more money than it gains.  Problem High debit outflow compared to credit inflow. Some banks or branches show higher debit patterns (expenses, refunds, withdrawals).  Solution Identify customer segments or branches responsible for the extra debit. Introduce automated alerts for abnormal debit patterns.  Recommendation Launch high-interest savings products to increase deposits. Implement monthly debit monitoring dashboard for early detection of high outflows. </vt:lpstr>
      <vt:lpstr>Branch-Level Performance Shows Low Variance But No Clear Leaders  All branches (East, City Centre, Suburban, Main Branch) show similar total transaction amounts around 19M.  No branch is significantly outperforming  → flat performance.  Problem Lack of branch differentiation. Branch managers may not focus on targeted growth.  Solution Introduce branch KPIs: Customer acquisition rate Credit-to-debit improvement metric Cross-sell success rate  Recommendation Implement performance-based incentive programs to drive branch-specific improvements.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&amp; Deposit Analysis Dashboard</dc:title>
  <dc:creator>ABHILASH</dc:creator>
  <cp:lastModifiedBy>suraj vaidhya</cp:lastModifiedBy>
  <cp:revision>38</cp:revision>
  <dcterms:modified xsi:type="dcterms:W3CDTF">2025-12-01T08:06:07Z</dcterms:modified>
</cp:coreProperties>
</file>